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52" r:id="rId4"/>
  </p:sldMasterIdLst>
  <p:notesMasterIdLst>
    <p:notesMasterId r:id="rId11"/>
  </p:notesMasterIdLst>
  <p:handoutMasterIdLst>
    <p:handoutMasterId r:id="rId12"/>
  </p:handoutMasterIdLst>
  <p:sldIdLst>
    <p:sldId id="440" r:id="rId5"/>
    <p:sldId id="442" r:id="rId6"/>
    <p:sldId id="443" r:id="rId7"/>
    <p:sldId id="444" r:id="rId8"/>
    <p:sldId id="445" r:id="rId9"/>
    <p:sldId id="441" r:id="rId10"/>
  </p:sldIdLst>
  <p:sldSz cx="12192000" cy="6858000"/>
  <p:notesSz cx="6807200" cy="99393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AEA"/>
    <a:srgbClr val="002060"/>
    <a:srgbClr val="333399"/>
    <a:srgbClr val="6A6A6A"/>
    <a:srgbClr val="0074C6"/>
    <a:srgbClr val="36AD1B"/>
    <a:srgbClr val="FEBE98"/>
    <a:srgbClr val="C3CEE1"/>
    <a:srgbClr val="B4B3B9"/>
    <a:srgbClr val="F478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34" autoAdjust="0"/>
    <p:restoredTop sz="96400" autoAdjust="0"/>
  </p:normalViewPr>
  <p:slideViewPr>
    <p:cSldViewPr snapToGrid="0">
      <p:cViewPr>
        <p:scale>
          <a:sx n="150" d="100"/>
          <a:sy n="150" d="100"/>
        </p:scale>
        <p:origin x="120" y="-223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399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BD1109-2044-4233-9AB7-DCF09E901514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E9664A-D6A5-4FA3-950D-749C3A5E74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504422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987ED1-F450-47D4-8A38-CE289C204B85}" type="datetimeFigureOut">
              <a:rPr lang="zh-TW" altLang="en-US" smtClean="0"/>
              <a:t>2026/5/6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1038" y="4783138"/>
            <a:ext cx="5445125" cy="39131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745C4C-D256-4B3C-AAC1-EA088CC283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585341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b="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745C4C-D256-4B3C-AAC1-EA088CC283B6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3697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首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09" y="77288"/>
            <a:ext cx="1800000" cy="32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838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"/>
          <p:cNvSpPr>
            <a:spLocks noGrp="1"/>
          </p:cNvSpPr>
          <p:nvPr>
            <p:ph type="title"/>
          </p:nvPr>
        </p:nvSpPr>
        <p:spPr>
          <a:xfrm>
            <a:off x="80435" y="84823"/>
            <a:ext cx="9360000" cy="432000"/>
          </a:xfrm>
        </p:spPr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4256178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1133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9230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4560965" y="6681724"/>
            <a:ext cx="307007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9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本文件為「全家便利商店股份有限公司」所有，請勿外洩</a:t>
            </a:r>
            <a:endParaRPr lang="zh-TW" altLang="en-US" sz="900" b="1" dirty="0">
              <a:solidFill>
                <a:schemeClr val="tx1"/>
              </a:solidFill>
            </a:endParaRPr>
          </a:p>
        </p:txBody>
      </p:sp>
      <p:grpSp>
        <p:nvGrpSpPr>
          <p:cNvPr id="2" name="群組 1"/>
          <p:cNvGrpSpPr/>
          <p:nvPr userDrawn="1"/>
        </p:nvGrpSpPr>
        <p:grpSpPr>
          <a:xfrm>
            <a:off x="105834" y="452437"/>
            <a:ext cx="11980333" cy="6255905"/>
            <a:chOff x="135995" y="452437"/>
            <a:chExt cx="11980333" cy="6255905"/>
          </a:xfrm>
        </p:grpSpPr>
        <p:sp>
          <p:nvSpPr>
            <p:cNvPr id="8" name="bk object 17"/>
            <p:cNvSpPr/>
            <p:nvPr userDrawn="1"/>
          </p:nvSpPr>
          <p:spPr>
            <a:xfrm>
              <a:off x="135995" y="452437"/>
              <a:ext cx="11980333" cy="0"/>
            </a:xfrm>
            <a:custGeom>
              <a:avLst/>
              <a:gdLst/>
              <a:ahLst/>
              <a:cxnLst/>
              <a:rect l="l" t="t" r="r" b="b"/>
              <a:pathLst>
                <a:path w="8985250">
                  <a:moveTo>
                    <a:pt x="0" y="0"/>
                  </a:moveTo>
                  <a:lnTo>
                    <a:pt x="8985243" y="1"/>
                  </a:lnTo>
                </a:path>
              </a:pathLst>
            </a:custGeom>
            <a:ln w="25399">
              <a:solidFill>
                <a:srgbClr val="008F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12" name="bk object 16"/>
            <p:cNvSpPr/>
            <p:nvPr userDrawn="1"/>
          </p:nvSpPr>
          <p:spPr>
            <a:xfrm>
              <a:off x="135995" y="495681"/>
              <a:ext cx="11980333" cy="0"/>
            </a:xfrm>
            <a:custGeom>
              <a:avLst/>
              <a:gdLst/>
              <a:ahLst/>
              <a:cxnLst/>
              <a:rect l="l" t="t" r="r" b="b"/>
              <a:pathLst>
                <a:path w="8985250">
                  <a:moveTo>
                    <a:pt x="0" y="0"/>
                  </a:moveTo>
                  <a:lnTo>
                    <a:pt x="8985243" y="1"/>
                  </a:lnTo>
                </a:path>
              </a:pathLst>
            </a:custGeom>
            <a:ln w="25399">
              <a:solidFill>
                <a:srgbClr val="4180FF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14" name="bk object 17"/>
            <p:cNvSpPr/>
            <p:nvPr userDrawn="1"/>
          </p:nvSpPr>
          <p:spPr>
            <a:xfrm>
              <a:off x="135995" y="6665098"/>
              <a:ext cx="11980333" cy="0"/>
            </a:xfrm>
            <a:custGeom>
              <a:avLst/>
              <a:gdLst/>
              <a:ahLst/>
              <a:cxnLst/>
              <a:rect l="l" t="t" r="r" b="b"/>
              <a:pathLst>
                <a:path w="8985250">
                  <a:moveTo>
                    <a:pt x="0" y="0"/>
                  </a:moveTo>
                  <a:lnTo>
                    <a:pt x="8985243" y="1"/>
                  </a:lnTo>
                </a:path>
              </a:pathLst>
            </a:custGeom>
            <a:ln w="25399">
              <a:solidFill>
                <a:srgbClr val="008F00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15" name="bk object 16"/>
            <p:cNvSpPr/>
            <p:nvPr userDrawn="1"/>
          </p:nvSpPr>
          <p:spPr>
            <a:xfrm>
              <a:off x="135995" y="6708342"/>
              <a:ext cx="11980333" cy="0"/>
            </a:xfrm>
            <a:custGeom>
              <a:avLst/>
              <a:gdLst/>
              <a:ahLst/>
              <a:cxnLst/>
              <a:rect l="l" t="t" r="r" b="b"/>
              <a:pathLst>
                <a:path w="8985250">
                  <a:moveTo>
                    <a:pt x="0" y="0"/>
                  </a:moveTo>
                  <a:lnTo>
                    <a:pt x="8985243" y="1"/>
                  </a:lnTo>
                </a:path>
              </a:pathLst>
            </a:custGeom>
            <a:ln w="25399">
              <a:solidFill>
                <a:srgbClr val="4180FF"/>
              </a:solidFill>
            </a:ln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  <p:sp>
        <p:nvSpPr>
          <p:cNvPr id="4" name="標題版面配置區 1">
            <a:extLst>
              <a:ext uri="{FF2B5EF4-FFF2-40B4-BE49-F238E27FC236}">
                <a16:creationId xmlns:a16="http://schemas.microsoft.com/office/drawing/2014/main" id="{19738730-D0F3-5909-56D5-FF24A9593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35" y="88669"/>
            <a:ext cx="10515600" cy="43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10" name="Rectangle 6"/>
          <p:cNvSpPr txBox="1">
            <a:spLocks noChangeArrowheads="1"/>
          </p:cNvSpPr>
          <p:nvPr userDrawn="1"/>
        </p:nvSpPr>
        <p:spPr>
          <a:xfrm>
            <a:off x="11554047" y="0"/>
            <a:ext cx="637953" cy="252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3304CC3C-3301-48B5-BCBF-7251C050722A}" type="slidenum">
              <a:rPr lang="en-US" altLang="zh-TW" sz="1400" b="1" smtClean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pPr lvl="0"/>
              <a:t>‹#›</a:t>
            </a:fld>
            <a:endParaRPr lang="en-US" altLang="zh-TW" sz="1400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37771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2" r:id="rId2"/>
    <p:sldLayoutId id="2147483663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 cap="none" spc="0">
          <a:ln>
            <a:noFill/>
          </a:ln>
          <a:solidFill>
            <a:schemeClr val="tx1"/>
          </a:solidFill>
          <a:effectLst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ea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ea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oup 2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5563873"/>
              </p:ext>
            </p:extLst>
          </p:nvPr>
        </p:nvGraphicFramePr>
        <p:xfrm>
          <a:off x="209547" y="599712"/>
          <a:ext cx="11700000" cy="1296000"/>
        </p:xfrm>
        <a:graphic>
          <a:graphicData uri="http://schemas.openxmlformats.org/drawingml/2006/table">
            <a:tbl>
              <a:tblPr/>
              <a:tblGrid>
                <a:gridCol w="59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2000">
                <a:tc row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icrosoft YaHei" panose="020B0503020204020204" pitchFamily="34" charset="-122"/>
                        </a:rPr>
                        <a:t>店舖品保數位化專案</a:t>
                      </a:r>
                    </a:p>
                  </a:txBody>
                  <a:tcPr marL="90510" marR="90510" marT="45284" marB="4528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icrosoft YaHei" panose="020B0503020204020204" pitchFamily="34" charset="-122"/>
                        </a:rPr>
                        <a:t>案別</a:t>
                      </a:r>
                    </a:p>
                  </a:txBody>
                  <a:tcPr marL="90510" marR="90510" marT="45284" marB="45284" anchor="ctr" horzOverflow="overflow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 row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icrosoft YaHei" panose="020B0503020204020204" pitchFamily="34" charset="-122"/>
                        </a:rPr>
                        <a:t>報告案</a:t>
                      </a:r>
                    </a:p>
                  </a:txBody>
                  <a:tcPr marL="90510" marR="90510" marT="45284" marB="45284" anchor="ctr" horzOverflow="overflow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icrosoft YaHei" panose="020B0503020204020204" pitchFamily="34" charset="-122"/>
                        </a:rPr>
                        <a:t>會議名稱</a:t>
                      </a:r>
                    </a:p>
                  </a:txBody>
                  <a:tcPr marL="90510" marR="90510" marT="45284" marB="45284" anchor="ctr" horzOverflow="overflow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icrosoft YaHei" panose="020B0503020204020204" pitchFamily="34" charset="-122"/>
                        </a:rPr>
                        <a:t>專案分科會</a:t>
                      </a:r>
                    </a:p>
                  </a:txBody>
                  <a:tcPr marL="90511" marR="90511" marT="45284" marB="45284" anchor="ctr" horzOverflow="overflow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icrosoft YaHei" panose="020B0503020204020204" pitchFamily="34" charset="-122"/>
                        </a:rPr>
                        <a:t>會議日期</a:t>
                      </a:r>
                    </a:p>
                  </a:txBody>
                  <a:tcPr marL="90510" marR="90510" marT="45284" marB="45284" anchor="ctr" horzOverflow="overflow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icrosoft YaHei" panose="020B0503020204020204" pitchFamily="34" charset="-122"/>
                        </a:rPr>
                        <a:t>2026.04.17</a:t>
                      </a:r>
                    </a:p>
                  </a:txBody>
                  <a:tcPr marL="90511" marR="90511" marT="45284" marB="45284" anchor="ctr" horzOverflow="overflow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icrosoft YaHei" panose="020B0503020204020204" pitchFamily="34" charset="-122"/>
                        </a:rPr>
                        <a:t>報告人</a:t>
                      </a:r>
                    </a:p>
                  </a:txBody>
                  <a:tcPr marL="90510" marR="90510" marT="45284" marB="45284" anchor="ctr" horzOverflow="overflow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icrosoft YaHei" panose="020B0503020204020204" pitchFamily="34" charset="-122"/>
                        </a:rPr>
                        <a:t>營業企劃部</a:t>
                      </a:r>
                    </a:p>
                  </a:txBody>
                  <a:tcPr marL="90511" marR="90511" marT="45284" marB="45284" anchor="ctr" horzOverflow="overflow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9006609" y="58571"/>
          <a:ext cx="3084512" cy="339726"/>
        </p:xfrm>
        <a:graphic>
          <a:graphicData uri="http://schemas.openxmlformats.org/drawingml/2006/table">
            <a:tbl>
              <a:tblPr firstRow="1" firstCol="1" bandRow="1"/>
              <a:tblGrid>
                <a:gridCol w="40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3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5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98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9863">
                <a:tc row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TW" sz="90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機密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TW" sz="90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等級</a:t>
                      </a:r>
                    </a:p>
                  </a:txBody>
                  <a:tcPr marL="68612" marR="686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TW" altLang="en-US" sz="90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■</a:t>
                      </a:r>
                      <a:r>
                        <a:rPr lang="zh-TW" sz="90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機密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TW" altLang="en-US" sz="90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□</a:t>
                      </a:r>
                      <a:r>
                        <a:rPr lang="zh-TW" sz="90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極機密</a:t>
                      </a:r>
                    </a:p>
                  </a:txBody>
                  <a:tcPr marL="68612" marR="686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TW" sz="90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保密年限</a:t>
                      </a:r>
                    </a:p>
                  </a:txBody>
                  <a:tcPr marL="68612" marR="686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kumimoji="0" lang="zh-TW" altLang="en-US" sz="9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■</a:t>
                      </a:r>
                      <a:r>
                        <a:rPr lang="en-US" sz="90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 5</a:t>
                      </a:r>
                      <a:r>
                        <a:rPr lang="zh-TW" sz="90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年 </a:t>
                      </a:r>
                      <a:r>
                        <a:rPr lang="en-US" sz="90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□10</a:t>
                      </a:r>
                      <a:r>
                        <a:rPr lang="zh-TW" sz="90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年 </a:t>
                      </a:r>
                      <a:r>
                        <a:rPr lang="en-US" sz="90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□</a:t>
                      </a:r>
                      <a:r>
                        <a:rPr lang="zh-TW" sz="90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永久</a:t>
                      </a:r>
                    </a:p>
                  </a:txBody>
                  <a:tcPr marL="68612" marR="686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863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 lang="zh-TW" sz="9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612" marR="686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TW" sz="90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保存年限</a:t>
                      </a:r>
                    </a:p>
                  </a:txBody>
                  <a:tcPr marL="68612" marR="686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kumimoji="0" lang="zh-TW" altLang="en-US" sz="9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■</a:t>
                      </a:r>
                      <a:r>
                        <a:rPr lang="en-US" sz="90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lang="zh-TW" sz="90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年 </a:t>
                      </a:r>
                      <a:r>
                        <a:rPr lang="en-US" sz="90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□20</a:t>
                      </a:r>
                      <a:r>
                        <a:rPr lang="zh-TW" sz="90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年 </a:t>
                      </a:r>
                      <a:r>
                        <a:rPr lang="en-US" sz="90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□</a:t>
                      </a:r>
                      <a:r>
                        <a:rPr lang="zh-TW" sz="900" kern="100" dirty="0"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Times New Roman" panose="02020603050405020304" pitchFamily="18" charset="0"/>
                        </a:rPr>
                        <a:t>永久</a:t>
                      </a:r>
                    </a:p>
                  </a:txBody>
                  <a:tcPr marL="68612" marR="6861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Group 2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073280"/>
              </p:ext>
            </p:extLst>
          </p:nvPr>
        </p:nvGraphicFramePr>
        <p:xfrm>
          <a:off x="209548" y="1974417"/>
          <a:ext cx="11698222" cy="4624312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91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9111">
                  <a:extLst>
                    <a:ext uri="{9D8B030D-6E8A-4147-A177-3AD203B41FA5}">
                      <a16:colId xmlns:a16="http://schemas.microsoft.com/office/drawing/2014/main" val="2298648283"/>
                    </a:ext>
                  </a:extLst>
                </a:gridCol>
                <a:gridCol w="64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2000"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icrosoft YaHei" panose="020B0503020204020204" pitchFamily="34" charset="-122"/>
                        </a:rPr>
                        <a:t>大綱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icrosoft YaHei" panose="020B0503020204020204" pitchFamily="34" charset="-122"/>
                        </a:rPr>
                        <a:t>重點摘要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icrosoft YaHei" panose="020B0503020204020204" pitchFamily="34" charset="-122"/>
                        </a:rPr>
                        <a:t>頁次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03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icrosoft YaHei" panose="020B0503020204020204" pitchFamily="34" charset="-122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icrosoft YaHei" panose="020B0503020204020204" pitchFamily="34" charset="-122"/>
                        </a:rPr>
                        <a:t>相關時程說明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87313" marR="0" lvl="0" indent="-873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j-lt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icrosoft YaHei" panose="020B0503020204020204" pitchFamily="34" charset="-122"/>
                        </a:rPr>
                        <a:t>P.01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03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icrosoft YaHei" panose="020B0503020204020204" pitchFamily="34" charset="-122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icrosoft YaHei" panose="020B0503020204020204" pitchFamily="34" charset="-122"/>
                        </a:rPr>
                        <a:t>測試問題收束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87313" marR="0" lvl="0" indent="-873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zh-TW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Microsoft YaHei" panose="020B0503020204020204" pitchFamily="34" charset="-122"/>
                          <a:cs typeface="+mn-cs"/>
                        </a:rPr>
                        <a:t>統計至</a:t>
                      </a:r>
                      <a:r>
                        <a:rPr kumimoji="1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Microsoft YaHei" panose="020B0503020204020204" pitchFamily="34" charset="-122"/>
                          <a:cs typeface="+mn-cs"/>
                        </a:rPr>
                        <a:t>0414</a:t>
                      </a:r>
                      <a:r>
                        <a:rPr kumimoji="1" lang="zh-TW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Microsoft YaHei" panose="020B0503020204020204" pitchFamily="34" charset="-122"/>
                          <a:cs typeface="+mn-cs"/>
                        </a:rPr>
                        <a:t>，共</a:t>
                      </a:r>
                      <a:r>
                        <a:rPr kumimoji="1" lang="en-US" altLang="zh-TW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Microsoft YaHei" panose="020B0503020204020204" pitchFamily="34" charset="-122"/>
                          <a:cs typeface="+mn-cs"/>
                        </a:rPr>
                        <a:t>16</a:t>
                      </a:r>
                      <a:r>
                        <a:rPr kumimoji="1" lang="zh-TW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Microsoft YaHei" panose="020B0503020204020204" pitchFamily="34" charset="-122"/>
                          <a:cs typeface="+mn-cs"/>
                        </a:rPr>
                        <a:t>位回饋</a:t>
                      </a:r>
                      <a:endParaRPr kumimoji="1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j-lt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icrosoft YaHei" panose="020B0503020204020204" pitchFamily="34" charset="-122"/>
                        </a:rPr>
                        <a:t>P.02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03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icrosoft YaHei" panose="020B0503020204020204" pitchFamily="34" charset="-122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icrosoft YaHei" panose="020B0503020204020204" pitchFamily="34" charset="-122"/>
                        </a:rPr>
                        <a:t>後續規劃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87313" marR="0" lvl="0" indent="-873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zh-TW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j-lt"/>
                          <a:ea typeface="Microsoft YaHei" panose="020B0503020204020204" pitchFamily="34" charset="-122"/>
                          <a:cs typeface="+mn-cs"/>
                        </a:rPr>
                        <a:t>收集地區營業回饋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icrosoft YaHei" panose="020B0503020204020204" pitchFamily="34" charset="-122"/>
                        </a:rPr>
                        <a:t>P.03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03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icrosoft YaHei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icrosoft YaHei" panose="020B0503020204020204" pitchFamily="34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87313" marR="0" lvl="0" indent="-873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j-lt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icrosoft YaHei" panose="020B0503020204020204" pitchFamily="34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03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icrosoft YaHei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icrosoft YaHei" panose="020B0503020204020204" pitchFamily="34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87313" marR="0" lvl="0" indent="-873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zh-TW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j-lt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icrosoft YaHei" panose="020B0503020204020204" pitchFamily="34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40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icrosoft YaHei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icrosoft YaHei" panose="020B0503020204020204" pitchFamily="34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zh-TW" alt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j-lt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icrosoft YaHei" panose="020B0503020204020204" pitchFamily="34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844176"/>
                  </a:ext>
                </a:extLst>
              </a:tr>
              <a:tr h="5240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icrosoft YaHei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icrosoft YaHei" panose="020B0503020204020204" pitchFamily="34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87313" marR="0" lvl="0" indent="-873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j-lt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icrosoft YaHei" panose="020B0503020204020204" pitchFamily="34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4039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icrosoft YaHei" panose="020B0503020204020204" pitchFamily="34" charset="-122"/>
                        </a:rPr>
                        <a:t>待討論</a:t>
                      </a:r>
                      <a:r>
                        <a:rPr kumimoji="1" lang="en-US" altLang="zh-TW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kumimoji="1" lang="zh-TW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Microsoft YaHei" panose="020B0503020204020204" pitchFamily="34" charset="-122"/>
                        </a:rPr>
                        <a:t>決議事項</a:t>
                      </a:r>
                      <a:endParaRPr kumimoji="1" lang="en-US" altLang="zh-TW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icrosoft YaHei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TW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Microsoft YaHei" panose="020B0503020204020204" pitchFamily="34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7313" marR="0" lvl="0" indent="-8731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1" lang="en-US" altLang="zh-TW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3326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9375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一、相關時程說明</a:t>
            </a: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337969AD-F843-C84C-A041-6BEE91FB12E3}"/>
              </a:ext>
            </a:extLst>
          </p:cNvPr>
          <p:cNvGrpSpPr/>
          <p:nvPr/>
        </p:nvGrpSpPr>
        <p:grpSpPr>
          <a:xfrm>
            <a:off x="352848" y="1363235"/>
            <a:ext cx="11566625" cy="1473928"/>
            <a:chOff x="1075165" y="1057211"/>
            <a:chExt cx="6449585" cy="687032"/>
          </a:xfrm>
        </p:grpSpPr>
        <p:sp>
          <p:nvSpPr>
            <p:cNvPr id="4" name="文本框 91">
              <a:extLst>
                <a:ext uri="{FF2B5EF4-FFF2-40B4-BE49-F238E27FC236}">
                  <a16:creationId xmlns:a16="http://schemas.microsoft.com/office/drawing/2014/main" id="{367E7B77-602B-83A7-6EE7-B8A53832527D}"/>
                </a:ext>
              </a:extLst>
            </p:cNvPr>
            <p:cNvSpPr txBox="1"/>
            <p:nvPr/>
          </p:nvSpPr>
          <p:spPr>
            <a:xfrm>
              <a:off x="1236843" y="1106504"/>
              <a:ext cx="1034928" cy="1865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altLang="zh-TW" sz="2000" b="1">
                  <a:solidFill>
                    <a:prstClr val="black">
                      <a:lumMod val="65000"/>
                      <a:lumOff val="35000"/>
                    </a:prst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3/20(</a:t>
              </a:r>
              <a:r>
                <a:rPr lang="zh-TW" altLang="en-US" sz="2000" b="1">
                  <a:solidFill>
                    <a:prstClr val="black">
                      <a:lumMod val="65000"/>
                      <a:lumOff val="35000"/>
                    </a:prst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五</a:t>
              </a:r>
              <a:r>
                <a:rPr lang="en-US" altLang="zh-TW" sz="2000" b="1">
                  <a:solidFill>
                    <a:prstClr val="black">
                      <a:lumMod val="65000"/>
                      <a:lumOff val="35000"/>
                    </a:prst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)</a:t>
              </a:r>
              <a:r>
                <a:rPr lang="zh-TW" altLang="en-US" sz="2000" b="1">
                  <a:solidFill>
                    <a:prstClr val="black">
                      <a:lumMod val="65000"/>
                      <a:lumOff val="35000"/>
                    </a:prst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endParaRPr lang="zh-CN" altLang="en-US" sz="2000" b="1">
                <a:solidFill>
                  <a:prstClr val="black">
                    <a:lumMod val="65000"/>
                    <a:lumOff val="35000"/>
                  </a:prst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" name="向右箭號 42">
              <a:extLst>
                <a:ext uri="{FF2B5EF4-FFF2-40B4-BE49-F238E27FC236}">
                  <a16:creationId xmlns:a16="http://schemas.microsoft.com/office/drawing/2014/main" id="{8A36464D-C021-94AE-D812-B9A70B2D5709}"/>
                </a:ext>
              </a:extLst>
            </p:cNvPr>
            <p:cNvSpPr/>
            <p:nvPr/>
          </p:nvSpPr>
          <p:spPr>
            <a:xfrm>
              <a:off x="1167006" y="1247011"/>
              <a:ext cx="6172007" cy="220540"/>
            </a:xfrm>
            <a:prstGeom prst="rightArrow">
              <a:avLst>
                <a:gd name="adj1" fmla="val 50000"/>
                <a:gd name="adj2" fmla="val 69495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8240ECE7-FF4A-01E5-E66E-D3B3F2A8AE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5165" y="1227606"/>
              <a:ext cx="284835" cy="240207"/>
            </a:xfrm>
            <a:prstGeom prst="rect">
              <a:avLst/>
            </a:prstGeom>
          </p:spPr>
        </p:pic>
        <p:sp>
          <p:nvSpPr>
            <p:cNvPr id="7" name="文本框 91">
              <a:extLst>
                <a:ext uri="{FF2B5EF4-FFF2-40B4-BE49-F238E27FC236}">
                  <a16:creationId xmlns:a16="http://schemas.microsoft.com/office/drawing/2014/main" id="{5C6FB8FA-9597-B836-3B25-80CD8588610D}"/>
                </a:ext>
              </a:extLst>
            </p:cNvPr>
            <p:cNvSpPr txBox="1"/>
            <p:nvPr/>
          </p:nvSpPr>
          <p:spPr>
            <a:xfrm>
              <a:off x="1235988" y="1392724"/>
              <a:ext cx="496033" cy="3299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zh-TW" altLang="en-US" sz="2000" b="1">
                  <a:solidFill>
                    <a:prstClr val="black">
                      <a:lumMod val="65000"/>
                      <a:lumOff val="35000"/>
                    </a:prst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起始</a:t>
              </a:r>
              <a:br>
                <a:rPr lang="en-US" altLang="zh-TW" sz="2000" b="1">
                  <a:solidFill>
                    <a:prstClr val="black">
                      <a:lumMod val="65000"/>
                      <a:lumOff val="35000"/>
                    </a:prst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</a:br>
              <a:r>
                <a:rPr lang="zh-TW" altLang="en-US" sz="2000" b="1">
                  <a:solidFill>
                    <a:prstClr val="black">
                      <a:lumMod val="65000"/>
                      <a:lumOff val="35000"/>
                    </a:prst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會議</a:t>
              </a:r>
              <a:endParaRPr lang="zh-CN" altLang="en-US" sz="2000" b="1">
                <a:solidFill>
                  <a:prstClr val="black">
                    <a:lumMod val="65000"/>
                    <a:lumOff val="35000"/>
                  </a:prst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8" name="文本框 91">
              <a:extLst>
                <a:ext uri="{FF2B5EF4-FFF2-40B4-BE49-F238E27FC236}">
                  <a16:creationId xmlns:a16="http://schemas.microsoft.com/office/drawing/2014/main" id="{B8875C79-8D9A-E104-6477-4FB167599D35}"/>
                </a:ext>
              </a:extLst>
            </p:cNvPr>
            <p:cNvSpPr txBox="1"/>
            <p:nvPr/>
          </p:nvSpPr>
          <p:spPr>
            <a:xfrm>
              <a:off x="6489822" y="1057211"/>
              <a:ext cx="1034928" cy="1865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altLang="zh-TW" sz="2000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4/17(</a:t>
              </a:r>
              <a:r>
                <a:rPr lang="zh-TW" altLang="en-US" sz="2000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五</a:t>
              </a:r>
              <a:r>
                <a:rPr lang="en-US" altLang="zh-TW" sz="2000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)</a:t>
              </a:r>
              <a:r>
                <a:rPr lang="zh-TW" altLang="en-US" sz="2000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endParaRPr lang="zh-CN" alt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419FDC94-2C4C-22D7-639D-33A0D9D4FB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28144" y="1227606"/>
              <a:ext cx="284835" cy="240207"/>
            </a:xfrm>
            <a:prstGeom prst="rect">
              <a:avLst/>
            </a:prstGeom>
          </p:spPr>
        </p:pic>
        <p:sp>
          <p:nvSpPr>
            <p:cNvPr id="10" name="文本框 91">
              <a:extLst>
                <a:ext uri="{FF2B5EF4-FFF2-40B4-BE49-F238E27FC236}">
                  <a16:creationId xmlns:a16="http://schemas.microsoft.com/office/drawing/2014/main" id="{5387B3E3-D098-796F-D595-2CD1348A8EB6}"/>
                </a:ext>
              </a:extLst>
            </p:cNvPr>
            <p:cNvSpPr txBox="1"/>
            <p:nvPr/>
          </p:nvSpPr>
          <p:spPr>
            <a:xfrm>
              <a:off x="6488967" y="1392724"/>
              <a:ext cx="923012" cy="3299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zh-TW" altLang="en-US" sz="2000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第二次</a:t>
              </a:r>
              <a:endParaRPr lang="en-US" altLang="zh-TW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>
                <a:defRPr/>
              </a:pPr>
              <a:r>
                <a:rPr lang="zh-TW" altLang="en-US" sz="2000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分科會</a:t>
              </a:r>
              <a:endParaRPr lang="zh-CN" alt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1" name="文本框 91">
              <a:extLst>
                <a:ext uri="{FF2B5EF4-FFF2-40B4-BE49-F238E27FC236}">
                  <a16:creationId xmlns:a16="http://schemas.microsoft.com/office/drawing/2014/main" id="{ABF3D061-F891-3AE7-255C-BB2C811C739E}"/>
                </a:ext>
              </a:extLst>
            </p:cNvPr>
            <p:cNvSpPr txBox="1"/>
            <p:nvPr/>
          </p:nvSpPr>
          <p:spPr>
            <a:xfrm>
              <a:off x="2309394" y="1106504"/>
              <a:ext cx="1034928" cy="1865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altLang="zh-TW" sz="2000" b="1">
                  <a:solidFill>
                    <a:prstClr val="black">
                      <a:lumMod val="65000"/>
                      <a:lumOff val="35000"/>
                    </a:prst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3/24(</a:t>
              </a:r>
              <a:r>
                <a:rPr lang="zh-TW" altLang="en-US" sz="2000" b="1">
                  <a:solidFill>
                    <a:prstClr val="black">
                      <a:lumMod val="65000"/>
                      <a:lumOff val="35000"/>
                    </a:prst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三</a:t>
              </a:r>
              <a:r>
                <a:rPr lang="en-US" altLang="zh-TW" sz="2000" b="1">
                  <a:solidFill>
                    <a:prstClr val="black">
                      <a:lumMod val="65000"/>
                      <a:lumOff val="35000"/>
                    </a:prst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)</a:t>
              </a:r>
              <a:r>
                <a:rPr lang="zh-TW" altLang="en-US" sz="2000" b="1">
                  <a:solidFill>
                    <a:prstClr val="black">
                      <a:lumMod val="65000"/>
                      <a:lumOff val="35000"/>
                    </a:prst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endParaRPr lang="zh-CN" altLang="en-US" sz="2000" b="1">
                <a:solidFill>
                  <a:prstClr val="black">
                    <a:lumMod val="65000"/>
                    <a:lumOff val="35000"/>
                  </a:prst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DC44105A-871C-DA61-887C-EE83C953C8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47716" y="1227606"/>
              <a:ext cx="284835" cy="240207"/>
            </a:xfrm>
            <a:prstGeom prst="rect">
              <a:avLst/>
            </a:prstGeom>
          </p:spPr>
        </p:pic>
        <p:sp>
          <p:nvSpPr>
            <p:cNvPr id="13" name="文本框 91">
              <a:extLst>
                <a:ext uri="{FF2B5EF4-FFF2-40B4-BE49-F238E27FC236}">
                  <a16:creationId xmlns:a16="http://schemas.microsoft.com/office/drawing/2014/main" id="{D9412F95-F0F4-4A0C-594E-FDA607BACCB9}"/>
                </a:ext>
              </a:extLst>
            </p:cNvPr>
            <p:cNvSpPr txBox="1"/>
            <p:nvPr/>
          </p:nvSpPr>
          <p:spPr>
            <a:xfrm>
              <a:off x="2308539" y="1392724"/>
              <a:ext cx="1107761" cy="3299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zh-TW" altLang="en-US" sz="2000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本部幹部會議</a:t>
              </a:r>
              <a:endParaRPr lang="en-US" altLang="zh-TW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>
                <a:defRPr/>
              </a:pPr>
              <a:r>
                <a:rPr lang="zh-TW" altLang="en-US" sz="2000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登錄測試連動</a:t>
              </a:r>
              <a:endParaRPr lang="en-US" altLang="zh-TW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4" name="文本框 91">
              <a:extLst>
                <a:ext uri="{FF2B5EF4-FFF2-40B4-BE49-F238E27FC236}">
                  <a16:creationId xmlns:a16="http://schemas.microsoft.com/office/drawing/2014/main" id="{2FF78656-1BA0-9AC7-C5E5-2BF4B869A4A2}"/>
                </a:ext>
              </a:extLst>
            </p:cNvPr>
            <p:cNvSpPr txBox="1"/>
            <p:nvPr/>
          </p:nvSpPr>
          <p:spPr>
            <a:xfrm>
              <a:off x="3734350" y="1076731"/>
              <a:ext cx="1034928" cy="1865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altLang="zh-TW" sz="2000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4/6(</a:t>
              </a:r>
              <a:r>
                <a:rPr lang="zh-TW" altLang="en-US" sz="2000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一</a:t>
              </a:r>
              <a:r>
                <a:rPr lang="en-US" altLang="zh-TW" sz="2000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)</a:t>
              </a:r>
              <a:r>
                <a:rPr lang="zh-TW" altLang="en-US" sz="2000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endParaRPr lang="zh-CN" alt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F0A29F58-0A54-6395-61DA-B8342CFE5E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72672" y="1249163"/>
              <a:ext cx="284835" cy="240207"/>
            </a:xfrm>
            <a:prstGeom prst="rect">
              <a:avLst/>
            </a:prstGeom>
          </p:spPr>
        </p:pic>
        <p:sp>
          <p:nvSpPr>
            <p:cNvPr id="16" name="文本框 91">
              <a:extLst>
                <a:ext uri="{FF2B5EF4-FFF2-40B4-BE49-F238E27FC236}">
                  <a16:creationId xmlns:a16="http://schemas.microsoft.com/office/drawing/2014/main" id="{055DC940-7DBD-E898-F94F-75282877BB16}"/>
                </a:ext>
              </a:extLst>
            </p:cNvPr>
            <p:cNvSpPr txBox="1"/>
            <p:nvPr/>
          </p:nvSpPr>
          <p:spPr>
            <a:xfrm>
              <a:off x="3733496" y="1414281"/>
              <a:ext cx="923012" cy="3299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zh-TW" altLang="en-US" sz="2000" b="1">
                  <a:solidFill>
                    <a:prstClr val="black">
                      <a:lumMod val="65000"/>
                      <a:lumOff val="35000"/>
                    </a:prst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整理測試</a:t>
              </a:r>
              <a:endParaRPr lang="en-US" altLang="zh-TW" sz="2000" b="1">
                <a:solidFill>
                  <a:prstClr val="black">
                    <a:lumMod val="65000"/>
                    <a:lumOff val="35000"/>
                  </a:prst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>
                <a:defRPr/>
              </a:pPr>
              <a:r>
                <a:rPr lang="zh-TW" altLang="en-US" sz="2000" b="1">
                  <a:solidFill>
                    <a:prstClr val="black">
                      <a:lumMod val="65000"/>
                      <a:lumOff val="35000"/>
                    </a:prst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回饋內容</a:t>
              </a:r>
              <a:endParaRPr lang="en-US" altLang="zh-TW" sz="2000" b="1">
                <a:solidFill>
                  <a:prstClr val="black">
                    <a:lumMod val="65000"/>
                    <a:lumOff val="35000"/>
                  </a:prst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7" name="文本框 91">
              <a:extLst>
                <a:ext uri="{FF2B5EF4-FFF2-40B4-BE49-F238E27FC236}">
                  <a16:creationId xmlns:a16="http://schemas.microsoft.com/office/drawing/2014/main" id="{87D12D8A-10C6-B1E8-010C-624BEBEEAB87}"/>
                </a:ext>
              </a:extLst>
            </p:cNvPr>
            <p:cNvSpPr txBox="1"/>
            <p:nvPr/>
          </p:nvSpPr>
          <p:spPr>
            <a:xfrm>
              <a:off x="4915332" y="1062962"/>
              <a:ext cx="1034928" cy="1865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en-US" altLang="zh-TW" sz="2000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4/8(</a:t>
              </a:r>
              <a:r>
                <a:rPr lang="zh-TW" altLang="en-US" sz="2000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三</a:t>
              </a:r>
              <a:r>
                <a:rPr lang="en-US" altLang="zh-TW" sz="2000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)</a:t>
              </a:r>
              <a:r>
                <a:rPr lang="zh-TW" altLang="en-US" sz="2000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endParaRPr lang="zh-CN" alt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pic>
          <p:nvPicPr>
            <p:cNvPr id="18" name="圖片 17">
              <a:extLst>
                <a:ext uri="{FF2B5EF4-FFF2-40B4-BE49-F238E27FC236}">
                  <a16:creationId xmlns:a16="http://schemas.microsoft.com/office/drawing/2014/main" id="{7926D4E8-0E01-F311-5B4C-47022C6324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53654" y="1232576"/>
              <a:ext cx="284835" cy="240207"/>
            </a:xfrm>
            <a:prstGeom prst="rect">
              <a:avLst/>
            </a:prstGeom>
          </p:spPr>
        </p:pic>
        <p:sp>
          <p:nvSpPr>
            <p:cNvPr id="19" name="文本框 91">
              <a:extLst>
                <a:ext uri="{FF2B5EF4-FFF2-40B4-BE49-F238E27FC236}">
                  <a16:creationId xmlns:a16="http://schemas.microsoft.com/office/drawing/2014/main" id="{894950B9-2E94-BE1A-1D4E-78686FC6310B}"/>
                </a:ext>
              </a:extLst>
            </p:cNvPr>
            <p:cNvSpPr txBox="1"/>
            <p:nvPr/>
          </p:nvSpPr>
          <p:spPr>
            <a:xfrm>
              <a:off x="4914477" y="1397694"/>
              <a:ext cx="1227930" cy="3299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zh-TW" altLang="en-US" sz="2000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本部幹部會議</a:t>
              </a:r>
              <a:endParaRPr lang="en-US" altLang="zh-TW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>
                <a:defRPr/>
              </a:pPr>
              <a:r>
                <a:rPr lang="zh-TW" altLang="en-US" sz="2000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測試問題收束</a:t>
              </a:r>
              <a:endParaRPr lang="en-US" altLang="zh-TW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4191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7CE250-8977-78B7-FD8D-8CA851A46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二、測試問題收束共 </a:t>
            </a:r>
            <a:r>
              <a:rPr lang="en-US" altLang="zh-TW" dirty="0"/>
              <a:t>36</a:t>
            </a:r>
            <a:r>
              <a:rPr lang="zh-TW" altLang="en-US" dirty="0"/>
              <a:t>題</a:t>
            </a:r>
            <a:r>
              <a:rPr lang="en-US" altLang="zh-TW" dirty="0"/>
              <a:t>(</a:t>
            </a:r>
            <a:r>
              <a:rPr lang="zh-TW" altLang="en-US" dirty="0"/>
              <a:t>共</a:t>
            </a:r>
            <a:r>
              <a:rPr lang="en-US" altLang="zh-TW" dirty="0"/>
              <a:t>16</a:t>
            </a:r>
            <a:r>
              <a:rPr lang="zh-TW" altLang="en-US" dirty="0"/>
              <a:t>位</a:t>
            </a:r>
            <a:r>
              <a:rPr lang="en-US" altLang="zh-TW" dirty="0"/>
              <a:t>)</a:t>
            </a:r>
            <a:endParaRPr lang="zh-TW" altLang="en-US" dirty="0"/>
          </a:p>
        </p:txBody>
      </p:sp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766A1A81-FCFA-A686-25AC-CBC1FBA6A9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027680"/>
              </p:ext>
            </p:extLst>
          </p:nvPr>
        </p:nvGraphicFramePr>
        <p:xfrm>
          <a:off x="367802" y="964680"/>
          <a:ext cx="2924038" cy="4529340"/>
        </p:xfrm>
        <a:graphic>
          <a:graphicData uri="http://schemas.openxmlformats.org/drawingml/2006/table">
            <a:tbl>
              <a:tblPr/>
              <a:tblGrid>
                <a:gridCol w="1647641">
                  <a:extLst>
                    <a:ext uri="{9D8B030D-6E8A-4147-A177-3AD203B41FA5}">
                      <a16:colId xmlns:a16="http://schemas.microsoft.com/office/drawing/2014/main" val="803478322"/>
                    </a:ext>
                  </a:extLst>
                </a:gridCol>
                <a:gridCol w="1276397">
                  <a:extLst>
                    <a:ext uri="{9D8B030D-6E8A-4147-A177-3AD203B41FA5}">
                      <a16:colId xmlns:a16="http://schemas.microsoft.com/office/drawing/2014/main" val="439175309"/>
                    </a:ext>
                  </a:extLst>
                </a:gridCol>
              </a:tblGrid>
              <a:tr h="5032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問題分類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題數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71407"/>
                  </a:ext>
                </a:extLst>
              </a:tr>
              <a:tr h="5032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操作方式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1638387"/>
                  </a:ext>
                </a:extLst>
              </a:tr>
              <a:tr h="5032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與現行不符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5685086"/>
                  </a:ext>
                </a:extLst>
              </a:tr>
              <a:tr h="5032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其他問題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7945093"/>
                  </a:ext>
                </a:extLst>
              </a:tr>
              <a:tr h="5032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提醒機制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9192029"/>
                  </a:ext>
                </a:extLst>
              </a:tr>
              <a:tr h="5032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資料串接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196736"/>
                  </a:ext>
                </a:extLst>
              </a:tr>
              <a:tr h="5032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確認機制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9243110"/>
                  </a:ext>
                </a:extLst>
              </a:tr>
              <a:tr h="5032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介面問題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697966"/>
                  </a:ext>
                </a:extLst>
              </a:tr>
              <a:tr h="5032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總計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28830"/>
                  </a:ext>
                </a:extLst>
              </a:tr>
            </a:tbl>
          </a:graphicData>
        </a:graphic>
      </p:graphicFrame>
      <p:sp>
        <p:nvSpPr>
          <p:cNvPr id="24" name="文字方塊 23">
            <a:extLst>
              <a:ext uri="{FF2B5EF4-FFF2-40B4-BE49-F238E27FC236}">
                <a16:creationId xmlns:a16="http://schemas.microsoft.com/office/drawing/2014/main" id="{A7E8AA70-0FF6-2F33-6D71-C426FBF2D5BF}"/>
              </a:ext>
            </a:extLst>
          </p:cNvPr>
          <p:cNvSpPr txBox="1"/>
          <p:nvPr/>
        </p:nvSpPr>
        <p:spPr>
          <a:xfrm>
            <a:off x="3945814" y="1136065"/>
            <a:ext cx="7554109" cy="372409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2000" b="1" u="sng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【</a:t>
            </a:r>
            <a:r>
              <a:rPr lang="zh-TW" altLang="en-US" sz="2000" b="1" u="sng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平台優化建議</a:t>
            </a:r>
            <a:r>
              <a:rPr lang="en-US" altLang="zh-TW" sz="2000" b="1" u="sng" dirty="0">
                <a:solidFill>
                  <a:srgbClr val="0000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】</a:t>
            </a:r>
          </a:p>
          <a:p>
            <a:r>
              <a:rPr lang="en-US" altLang="zh-TW" b="1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1.UI/UX</a:t>
            </a:r>
            <a:r>
              <a:rPr lang="zh-TW" altLang="en-US" b="1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介面及操作</a:t>
            </a:r>
            <a:endParaRPr lang="en-US" altLang="zh-TW" b="1" dirty="0">
              <a:highlight>
                <a:srgbClr val="FFFF00"/>
              </a:highligh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◎直覺導覽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增設懸浮返回鍵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◎視覺調整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調整背景顏色、填寫區域、提高頁籤辨識度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◎登錄優化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支援小數點並示範填寫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→可串接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IoT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r>
              <a:rPr lang="en-US" altLang="zh-TW" b="1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b="1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欄位邏輯調整</a:t>
            </a:r>
            <a:endParaRPr lang="en-US" altLang="zh-TW" b="1" dirty="0">
              <a:highlight>
                <a:srgbClr val="FFFF00"/>
              </a:highligh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◎重新確認標準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機台名稱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含照片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及數量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→可串接設備資料或資產編號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◎填寫彈性機制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增設無此設備或故障選項，避免資料不真實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◎區隔填寫時段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不同時段作業應分頁或區隔顯現，防止誤填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b="1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3.</a:t>
            </a:r>
            <a:r>
              <a:rPr lang="zh-TW" altLang="en-US" b="1" dirty="0"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權限管理</a:t>
            </a:r>
            <a:endParaRPr lang="en-US" altLang="zh-TW" b="1" dirty="0">
              <a:highlight>
                <a:srgbClr val="FFFF00"/>
              </a:highligh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◎多層級權限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加盟者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多店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、小店長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單店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、營業課長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擔當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異常店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◎異常檢核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溫度複檢仍出現異常時，系統引導報修並推播提醒店長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◎管理儀錶板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各班執行完成度並異常發生次數、各項目完成時間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5" name="箭號: 向右 24">
            <a:extLst>
              <a:ext uri="{FF2B5EF4-FFF2-40B4-BE49-F238E27FC236}">
                <a16:creationId xmlns:a16="http://schemas.microsoft.com/office/drawing/2014/main" id="{87612689-2CB4-BB39-0E41-BE2D5347F654}"/>
              </a:ext>
            </a:extLst>
          </p:cNvPr>
          <p:cNvSpPr/>
          <p:nvPr/>
        </p:nvSpPr>
        <p:spPr>
          <a:xfrm>
            <a:off x="3421828" y="2507617"/>
            <a:ext cx="281940" cy="1234440"/>
          </a:xfrm>
          <a:prstGeom prst="rightArrow">
            <a:avLst/>
          </a:prstGeom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5859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5EC301-C448-42D4-B133-C378BC0E4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三、後續規劃</a:t>
            </a:r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3662AB45-6D73-FFF5-1065-639C72D758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583892"/>
              </p:ext>
            </p:extLst>
          </p:nvPr>
        </p:nvGraphicFramePr>
        <p:xfrm>
          <a:off x="510626" y="1387533"/>
          <a:ext cx="11118390" cy="26035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7193">
                  <a:extLst>
                    <a:ext uri="{9D8B030D-6E8A-4147-A177-3AD203B41FA5}">
                      <a16:colId xmlns:a16="http://schemas.microsoft.com/office/drawing/2014/main" val="200370428"/>
                    </a:ext>
                  </a:extLst>
                </a:gridCol>
                <a:gridCol w="5008547">
                  <a:extLst>
                    <a:ext uri="{9D8B030D-6E8A-4147-A177-3AD203B41FA5}">
                      <a16:colId xmlns:a16="http://schemas.microsoft.com/office/drawing/2014/main" val="3592931958"/>
                    </a:ext>
                  </a:extLst>
                </a:gridCol>
                <a:gridCol w="4812650">
                  <a:extLst>
                    <a:ext uri="{9D8B030D-6E8A-4147-A177-3AD203B41FA5}">
                      <a16:colId xmlns:a16="http://schemas.microsoft.com/office/drawing/2014/main" val="3805390951"/>
                    </a:ext>
                  </a:extLst>
                </a:gridCol>
              </a:tblGrid>
              <a:tr h="606307">
                <a:tc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第一階段</a:t>
                      </a:r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zh-TW" altLang="en-US" sz="1800" dirty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總部鄰近店訪談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第二階段</a:t>
                      </a:r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</a:t>
                      </a:r>
                      <a:r>
                        <a:rPr lang="zh-TW" altLang="en-US" sz="1800" dirty="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擴大</a:t>
                      </a:r>
                      <a:r>
                        <a:rPr lang="zh-TW" altLang="en-US" sz="1800">
                          <a:solidFill>
                            <a:srgbClr val="FFFF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各本部</a:t>
                      </a:r>
                      <a:endParaRPr lang="zh-TW" altLang="en-US" sz="1800" dirty="0">
                        <a:solidFill>
                          <a:srgbClr val="FFFF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6734422"/>
                  </a:ext>
                </a:extLst>
              </a:tr>
              <a:tr h="60630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對象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中賓店</a:t>
                      </a:r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店舖、店長、擔當、課長</a:t>
                      </a:r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各本部</a:t>
                      </a:r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店 </a:t>
                      </a:r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(IOT/</a:t>
                      </a:r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非</a:t>
                      </a:r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IOT)</a:t>
                      </a:r>
                      <a:endParaRPr lang="zh-TW" altLang="en-US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833461"/>
                  </a:ext>
                </a:extLst>
              </a:tr>
              <a:tr h="13909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確認</a:t>
                      </a:r>
                      <a:endParaRPr lang="en-US" altLang="zh-TW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內容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</a:t>
                      </a:r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店舖人員操作手順→對比紙本店舖工作日誌</a:t>
                      </a:r>
                      <a:endParaRPr lang="en-US" altLang="zh-TW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l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</a:t>
                      </a:r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檢核各班真實填寫→避免漏填或不會填寫</a:t>
                      </a:r>
                      <a:endParaRPr lang="en-US" altLang="zh-TW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l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3.</a:t>
                      </a:r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異常提醒呈現方式→異常指標及異常店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1.IOT</a:t>
                      </a:r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和非</a:t>
                      </a:r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IOT</a:t>
                      </a:r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店</a:t>
                      </a:r>
                      <a:endParaRPr lang="en-US" altLang="zh-TW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l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2.</a:t>
                      </a:r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支援人力</a:t>
                      </a:r>
                      <a:endParaRPr lang="en-US" altLang="zh-TW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l"/>
                      <a:r>
                        <a:rPr lang="en-US" altLang="zh-TW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3.FC</a:t>
                      </a:r>
                      <a:r>
                        <a:rPr lang="zh-TW" altLang="en-US" sz="18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複數店</a:t>
                      </a:r>
                      <a:endParaRPr lang="en-US" altLang="zh-TW" sz="18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7622784"/>
                  </a:ext>
                </a:extLst>
              </a:tr>
            </a:tbl>
          </a:graphicData>
        </a:graphic>
      </p:graphicFrame>
      <p:sp>
        <p:nvSpPr>
          <p:cNvPr id="26" name="箭號: 向右 25">
            <a:extLst>
              <a:ext uri="{FF2B5EF4-FFF2-40B4-BE49-F238E27FC236}">
                <a16:creationId xmlns:a16="http://schemas.microsoft.com/office/drawing/2014/main" id="{C1B12D01-3EB6-38A6-F331-9DE6CDB404E4}"/>
              </a:ext>
            </a:extLst>
          </p:cNvPr>
          <p:cNvSpPr/>
          <p:nvPr/>
        </p:nvSpPr>
        <p:spPr>
          <a:xfrm>
            <a:off x="8761376" y="3121223"/>
            <a:ext cx="155375" cy="307777"/>
          </a:xfrm>
          <a:prstGeom prst="rightArrow">
            <a:avLst/>
          </a:prstGeom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49669381-8826-DFBA-B5E9-3A1AA8CE0A5A}"/>
              </a:ext>
            </a:extLst>
          </p:cNvPr>
          <p:cNvSpPr txBox="1"/>
          <p:nvPr/>
        </p:nvSpPr>
        <p:spPr>
          <a:xfrm>
            <a:off x="9101116" y="3121223"/>
            <a:ext cx="23127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收集不同情境填寫狀況</a:t>
            </a:r>
          </a:p>
        </p:txBody>
      </p:sp>
    </p:spTree>
    <p:extLst>
      <p:ext uri="{BB962C8B-B14F-4D97-AF65-F5344CB8AC3E}">
        <p14:creationId xmlns:p14="http://schemas.microsoft.com/office/powerpoint/2010/main" val="165650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4A927E-B615-C610-85C9-1F05EB744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附件、表單回饋明細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4EE4D1FB-67A2-6BF9-FD1E-C8DDA051B5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4449228"/>
              </p:ext>
            </p:extLst>
          </p:nvPr>
        </p:nvGraphicFramePr>
        <p:xfrm>
          <a:off x="239357" y="618601"/>
          <a:ext cx="6931711" cy="6682740"/>
        </p:xfrm>
        <a:graphic>
          <a:graphicData uri="http://schemas.openxmlformats.org/drawingml/2006/table">
            <a:tbl>
              <a:tblPr/>
              <a:tblGrid>
                <a:gridCol w="249552">
                  <a:extLst>
                    <a:ext uri="{9D8B030D-6E8A-4147-A177-3AD203B41FA5}">
                      <a16:colId xmlns:a16="http://schemas.microsoft.com/office/drawing/2014/main" val="1624170191"/>
                    </a:ext>
                  </a:extLst>
                </a:gridCol>
                <a:gridCol w="5257165">
                  <a:extLst>
                    <a:ext uri="{9D8B030D-6E8A-4147-A177-3AD203B41FA5}">
                      <a16:colId xmlns:a16="http://schemas.microsoft.com/office/drawing/2014/main" val="1886215729"/>
                    </a:ext>
                  </a:extLst>
                </a:gridCol>
                <a:gridCol w="1424994">
                  <a:extLst>
                    <a:ext uri="{9D8B030D-6E8A-4147-A177-3AD203B41FA5}">
                      <a16:colId xmlns:a16="http://schemas.microsoft.com/office/drawing/2014/main" val="2078356463"/>
                    </a:ext>
                  </a:extLst>
                </a:gridCol>
              </a:tblGrid>
              <a:tr h="1311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序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內容說明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分類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641858"/>
                  </a:ext>
                </a:extLst>
              </a:tr>
              <a:tr h="858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機台溫度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卡片模式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看不懂新增測量填寫方式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操作方式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7537769"/>
                  </a:ext>
                </a:extLst>
              </a:tr>
              <a:tr h="858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擔當和系統管理員不需要登錄店號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操作方式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436841"/>
                  </a:ext>
                </a:extLst>
              </a:tr>
              <a:tr h="858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要返回上一畫面需要再拉到最上面按箭頭返回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操作方式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8734843"/>
                  </a:ext>
                </a:extLst>
              </a:tr>
              <a:tr h="858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衛生自主管理的橫向頁籤不明確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操作方式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5659072"/>
                  </a:ext>
                </a:extLst>
              </a:tr>
              <a:tr h="858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不小心誤填非店舖機台的清潔資料就沒辦法刪除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操作方式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7405779"/>
                  </a:ext>
                </a:extLst>
              </a:tr>
              <a:tr h="858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背景畫面偏白色，有點不清楚從哪裡開始填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操作方式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7712180"/>
                  </a:ext>
                </a:extLst>
              </a:tr>
              <a:tr h="858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咖啡自檢溫度及重量僅只能輸入單一位數字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異常處理複檢機制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操作方式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4199629"/>
                  </a:ext>
                </a:extLst>
              </a:tr>
              <a:tr h="858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過期品下架登錄頁面，不同時段應區隔，避免誤填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區分早午夜班 畫呈現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操作方式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2766306"/>
                  </a:ext>
                </a:extLst>
              </a:tr>
              <a:tr h="858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擔當可以直接下拉選擇單店查詢記錄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操作方式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4172526"/>
                  </a:ext>
                </a:extLst>
              </a:tr>
              <a:tr h="7410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現行已有類似功能，應整併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ex</a:t>
                      </a:r>
                    </a:p>
                    <a:p>
                      <a:pPr algn="l" fontAlgn="b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擔當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---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全家人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---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品質異常及外部稽核、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l" fontAlgn="b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店鋪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---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全管家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---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報修留言板 </a:t>
                      </a:r>
                      <a:r>
                        <a:rPr lang="zh-TW" alt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需要會議討論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其他問題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986926"/>
                  </a:ext>
                </a:extLst>
              </a:tr>
              <a:tr h="858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鎖定週別填寫資料</a:t>
                      </a:r>
                      <a:r>
                        <a:rPr lang="en-US" altLang="zh-TW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周別要記錄</a:t>
                      </a:r>
                      <a:r>
                        <a:rPr lang="en-US" altLang="zh-TW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000" b="0" i="0" u="none" strike="noStrike" dirty="0">
                        <a:solidFill>
                          <a:srgbClr val="FF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其他問題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431962"/>
                  </a:ext>
                </a:extLst>
              </a:tr>
              <a:tr h="858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店長角色應可以查詢各人員填寫異常次數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&gt;&gt;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針對店員；店 的次數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其他問題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0482084"/>
                  </a:ext>
                </a:extLst>
              </a:tr>
              <a:tr h="858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可檢視點檢表各項目完成時間</a:t>
                      </a:r>
                      <a:r>
                        <a:rPr lang="en-US" altLang="zh-TW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(for </a:t>
                      </a:r>
                      <a:r>
                        <a:rPr lang="zh-TW" alt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店長、擔當</a:t>
                      </a:r>
                      <a:r>
                        <a:rPr lang="en-US" altLang="zh-TW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r>
                        <a:rPr lang="zh-TW" alt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其他問題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3214063"/>
                  </a:ext>
                </a:extLst>
              </a:tr>
              <a:tr h="858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店鋪日誌置入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SAT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，避免客人誤以為在滑手機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會議討論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其他問題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67211"/>
                  </a:ext>
                </a:extLst>
              </a:tr>
              <a:tr h="858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溫度記錄部分機台名稱不清楚、溫度標準與現行不同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對一下標準溫度及機台名稱及機器有多台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與現行不符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2391276"/>
                  </a:ext>
                </a:extLst>
              </a:tr>
              <a:tr h="858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機台溫度應記錄至小數位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與現行不符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5756106"/>
                  </a:ext>
                </a:extLst>
              </a:tr>
              <a:tr h="858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如無此機台或故障無法填寫機台溫度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與現行不符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4613555"/>
                  </a:ext>
                </a:extLst>
              </a:tr>
              <a:tr h="858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機台溫度無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FF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保溫櫃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與現行不符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1104302"/>
                  </a:ext>
                </a:extLst>
              </a:tr>
              <a:tr h="858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機台溫度標準不正確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與現行不符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2978891"/>
                  </a:ext>
                </a:extLst>
              </a:tr>
              <a:tr h="858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溫度紀錄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: FF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區 須列入茶葉蛋鍋溫度。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與現行不符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6425152"/>
                  </a:ext>
                </a:extLst>
              </a:tr>
              <a:tr h="858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溫度紀錄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: 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咖啡 冰淇淋機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子母機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 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不知機台為何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? 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建議可提供圖片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與現行不符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021859"/>
                  </a:ext>
                </a:extLst>
              </a:tr>
              <a:tr h="858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店長權限區分小店長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管理單店資料但新增臨時帳號連結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和加盟者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可管理複數店資料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  <a:p>
                      <a:pPr algn="l" fontAlgn="b">
                        <a:buNone/>
                      </a:pPr>
                      <a:r>
                        <a:rPr lang="en-US" altLang="zh-TW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未填寫的資料要需要處理</a:t>
                      </a:r>
                      <a:r>
                        <a:rPr lang="en-US" altLang="zh-TW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zh-TW" alt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防呆</a:t>
                      </a:r>
                      <a:r>
                        <a:rPr lang="en-US" altLang="zh-TW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其他問題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1944712"/>
                  </a:ext>
                </a:extLst>
              </a:tr>
              <a:tr h="858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神秘客連結有效期限應可設定區間，並保有隨時關閉權限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  <a:p>
                      <a:pPr algn="l" fontAlgn="b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起訖概念及可以隨時關掉</a:t>
                      </a:r>
                      <a:endParaRPr lang="en-US" altLang="zh-TW" sz="1000" b="0" i="0" u="none" strike="noStrike" dirty="0">
                        <a:solidFill>
                          <a:srgbClr val="FF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其他問題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9176"/>
                  </a:ext>
                </a:extLst>
              </a:tr>
              <a:tr h="858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無相關品保作業說明</a:t>
                      </a:r>
                      <a:r>
                        <a:rPr lang="en-US" altLang="zh-TW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(QRCODE)</a:t>
                      </a:r>
                      <a:r>
                        <a:rPr lang="en-US" altLang="zh-TW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zh-TW" alt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sym typeface="Wingdings" panose="05000000000000000000" pitchFamily="2" charset="2"/>
                        </a:rPr>
                        <a:t>操作手冊</a:t>
                      </a:r>
                      <a:endParaRPr lang="zh-TW" altLang="en-US" sz="1000" b="0" i="0" u="none" strike="noStrike" dirty="0">
                        <a:solidFill>
                          <a:srgbClr val="FF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提醒機制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66710"/>
                  </a:ext>
                </a:extLst>
              </a:tr>
              <a:tr h="858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衛生問卷跳出時應跳出視窗尚有幾題題目未填寫，是否需寫完或者送出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提醒機制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1562215"/>
                  </a:ext>
                </a:extLst>
              </a:tr>
              <a:tr h="858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店長登錄時應先跳出當天異常事項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提醒機制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488120"/>
                  </a:ext>
                </a:extLst>
              </a:tr>
              <a:tr h="858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新增設備檢查排除指引</a:t>
                      </a:r>
                      <a:r>
                        <a:rPr lang="en-US" altLang="zh-TW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zh-TW" alt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sym typeface="Wingdings" panose="05000000000000000000" pitchFamily="2" charset="2"/>
                        </a:rPr>
                        <a:t>加入操作手冊</a:t>
                      </a:r>
                      <a:endParaRPr lang="zh-TW" altLang="en-US" sz="1000" b="0" i="0" u="none" strike="noStrike" dirty="0">
                        <a:solidFill>
                          <a:srgbClr val="FF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提醒機制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7084896"/>
                  </a:ext>
                </a:extLst>
              </a:tr>
              <a:tr h="858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有特殊機台設定清洗或保養行事曆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sym typeface="Wingdings" panose="05000000000000000000" pitchFamily="2" charset="2"/>
                        </a:rPr>
                        <a:t>message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sym typeface="Wingdings" panose="05000000000000000000" pitchFamily="2" charset="2"/>
                        </a:rPr>
                        <a:t>通知店鋪</a:t>
                      </a: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提醒機制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450128"/>
                  </a:ext>
                </a:extLst>
              </a:tr>
              <a:tr h="858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串接資產設備或提供擔當及店長機台數量維護權限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資料串接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3192833"/>
                  </a:ext>
                </a:extLst>
              </a:tr>
              <a:tr h="858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可串聯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IOT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機台資料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資料串接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6380595"/>
                  </a:ext>
                </a:extLst>
              </a:tr>
              <a:tr h="10604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每日確認應結合資產管理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資料串接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538151"/>
                  </a:ext>
                </a:extLst>
              </a:tr>
              <a:tr h="858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無法看到當日全面資料、無擔當、店長覆核欄位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確認機制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5375425"/>
                  </a:ext>
                </a:extLst>
              </a:tr>
              <a:tr h="858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店長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如何確認人員有填寫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確認機制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9474501"/>
                  </a:ext>
                </a:extLst>
              </a:tr>
              <a:tr h="858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異常溫度無再次檢核與處理欄位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確認機制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4261534"/>
                  </a:ext>
                </a:extLst>
              </a:tr>
              <a:tr h="858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擔當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/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系統管理員角色進入時，今日統計那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個區塊可以移到底部變成頁籤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介面問題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0737350"/>
                  </a:ext>
                </a:extLst>
              </a:tr>
              <a:tr h="8583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UI  UX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介面不直觀、內容跟紙本品保手冊不一致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機台名稱、溫度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介面問題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7123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129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CDDAF-C797-E520-6680-EFBD31688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/>
          <p:cNvSpPr txBox="1"/>
          <p:nvPr/>
        </p:nvSpPr>
        <p:spPr>
          <a:xfrm>
            <a:off x="-24000" y="2889000"/>
            <a:ext cx="12240000" cy="108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6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The End</a:t>
            </a:r>
            <a:endParaRPr lang="zh-TW" altLang="en-US" sz="66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93465773"/>
      </p:ext>
    </p:extLst>
  </p:cSld>
  <p:clrMapOvr>
    <a:masterClrMapping/>
  </p:clrMapOvr>
</p:sld>
</file>

<file path=ppt/theme/theme1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1">
      <a:majorFont>
        <a:latin typeface="Microsoft YaHei"/>
        <a:ea typeface="微軟正黑體"/>
        <a:cs typeface=""/>
      </a:majorFont>
      <a:minorFont>
        <a:latin typeface="Microsoft YaHei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ec7421d-f4a7-4d07-913d-3dc93a721e80" xsi:nil="true"/>
    <lcf76f155ced4ddcb4097134ff3c332f xmlns="efb3061a-7ecb-47a0-8064-226b21455c6f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C83950BA7D51D46B34E18110DEA221C" ma:contentTypeVersion="16" ma:contentTypeDescription="Create a new document." ma:contentTypeScope="" ma:versionID="bcb63c2bf979f00e83f61fd2f10435df">
  <xsd:schema xmlns:xsd="http://www.w3.org/2001/XMLSchema" xmlns:xs="http://www.w3.org/2001/XMLSchema" xmlns:p="http://schemas.microsoft.com/office/2006/metadata/properties" xmlns:ns2="efb3061a-7ecb-47a0-8064-226b21455c6f" xmlns:ns3="6ec7421d-f4a7-4d07-913d-3dc93a721e80" targetNamespace="http://schemas.microsoft.com/office/2006/metadata/properties" ma:root="true" ma:fieldsID="e853d54cc2c9a4f8a4734805736806ad" ns2:_="" ns3:_="">
    <xsd:import namespace="efb3061a-7ecb-47a0-8064-226b21455c6f"/>
    <xsd:import namespace="6ec7421d-f4a7-4d07-913d-3dc93a721e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b3061a-7ecb-47a0-8064-226b21455c6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ecabee93-cc04-4b29-9ac7-5286c815f7a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c7421d-f4a7-4d07-913d-3dc93a721e8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72f62365-96e2-4955-9025-29c15da36aa8}" ma:internalName="TaxCatchAll" ma:showField="CatchAllData" ma:web="6ec7421d-f4a7-4d07-913d-3dc93a721e8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FE8F37-CBDB-4B60-91A9-EC47326DB4F4}">
  <ds:schemaRefs>
    <ds:schemaRef ds:uri="efb3061a-7ecb-47a0-8064-226b21455c6f"/>
    <ds:schemaRef ds:uri="http://purl.org/dc/elements/1.1/"/>
    <ds:schemaRef ds:uri="http://purl.org/dc/dcmitype/"/>
    <ds:schemaRef ds:uri="6ec7421d-f4a7-4d07-913d-3dc93a721e80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607DC600-943E-4C11-A4FF-7832A0A60D2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502EA11-24DC-4F2D-A533-9171775B8B3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fb3061a-7ecb-47a0-8064-226b21455c6f"/>
    <ds:schemaRef ds:uri="6ec7421d-f4a7-4d07-913d-3dc93a721e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40787</TotalTime>
  <Words>1154</Words>
  <Application>Microsoft Office PowerPoint</Application>
  <PresentationFormat>寬螢幕</PresentationFormat>
  <Paragraphs>212</Paragraphs>
  <Slides>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1" baseType="lpstr">
      <vt:lpstr>Microsoft YaHei</vt:lpstr>
      <vt:lpstr>微軟正黑體</vt:lpstr>
      <vt:lpstr>Arial</vt:lpstr>
      <vt:lpstr>Calibri</vt:lpstr>
      <vt:lpstr>自訂設計</vt:lpstr>
      <vt:lpstr>PowerPoint 簡報</vt:lpstr>
      <vt:lpstr>一、相關時程說明</vt:lpstr>
      <vt:lpstr>二、測試問題收束共 36題(共16位)</vt:lpstr>
      <vt:lpstr>三、後續規劃</vt:lpstr>
      <vt:lpstr>附件、表單回饋明細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招牌VI規範重整＆管理_1081125</dc:title>
  <dc:creator>estherlin</dc:creator>
  <dc:description/>
  <cp:lastModifiedBy>莊旻翰</cp:lastModifiedBy>
  <cp:revision>2096</cp:revision>
  <cp:lastPrinted>2025-04-23T08:51:52Z</cp:lastPrinted>
  <dcterms:created xsi:type="dcterms:W3CDTF">2019-05-28T01:52:44Z</dcterms:created>
  <dcterms:modified xsi:type="dcterms:W3CDTF">2026-05-06T02:56:19Z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2019-05-26T00:00:00Z</vt:filetime>
  </property>
  <property fmtid="{D5CDD505-2E9C-101B-9397-08002B2CF9AE}" pid="3" name="Creator">
    <vt:lpwstr>PowerPoint</vt:lpwstr>
  </property>
  <property fmtid="{D5CDD505-2E9C-101B-9397-08002B2CF9AE}" pid="4" name="LastSaved">
    <vt:filetime>2019-05-28T00:00:00Z</vt:filetime>
  </property>
  <property fmtid="{D5CDD505-2E9C-101B-9397-08002B2CF9AE}" pid="5" name="Presentation">
    <vt:lpwstr>招牌VI規範重整＆管理_1081125</vt:lpwstr>
  </property>
  <property fmtid="{D5CDD505-2E9C-101B-9397-08002B2CF9AE}" pid="6" name="SlideDescription">
    <vt:lpwstr/>
  </property>
  <property fmtid="{D5CDD505-2E9C-101B-9397-08002B2CF9AE}" pid="7" name="ContentTypeId">
    <vt:lpwstr>0x010100DC83950BA7D51D46B34E18110DEA221C</vt:lpwstr>
  </property>
</Properties>
</file>